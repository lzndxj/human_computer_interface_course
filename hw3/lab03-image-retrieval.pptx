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8" r:id="rId2"/>
    <p:sldId id="420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397" r:id="rId19"/>
    <p:sldId id="417" r:id="rId20"/>
    <p:sldId id="398" r:id="rId21"/>
    <p:sldId id="418" r:id="rId22"/>
    <p:sldId id="416" r:id="rId23"/>
    <p:sldId id="419" r:id="rId24"/>
    <p:sldId id="412" r:id="rId25"/>
    <p:sldId id="421" r:id="rId2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3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  <a:srgbClr val="660066"/>
    <a:srgbClr val="6600FF"/>
    <a:srgbClr val="3333FF"/>
    <a:srgbClr val="6666FF"/>
    <a:srgbClr val="006600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32" autoAdjust="0"/>
    <p:restoredTop sz="88037" autoAdjust="0"/>
  </p:normalViewPr>
  <p:slideViewPr>
    <p:cSldViewPr>
      <p:cViewPr varScale="1">
        <p:scale>
          <a:sx n="106" d="100"/>
          <a:sy n="106" d="100"/>
        </p:scale>
        <p:origin x="1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742" y="78"/>
      </p:cViewPr>
      <p:guideLst>
        <p:guide orient="horz" pos="3132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52EE9-1AFC-46DC-A690-7697F0C53593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59ABA-B2AE-4EA8-A9A1-1E943E7A4FE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6996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23EEA-7051-4912-9424-949F339942D5}" type="datetimeFigureOut">
              <a:rPr lang="en-US" smtClean="0"/>
              <a:pPr/>
              <a:t>2/28/26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B1227F-4C66-4D65-B3F3-15EFF23329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45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Formulation: Expressing the search</a:t>
            </a:r>
          </a:p>
          <a:p>
            <a:r>
              <a:rPr lang="en-US" dirty="0"/>
              <a:t>Initiation of action: Launching the search</a:t>
            </a:r>
          </a:p>
          <a:p>
            <a:r>
              <a:rPr lang="en-US" dirty="0"/>
              <a:t>Review of results: Reading messages and outcome</a:t>
            </a:r>
          </a:p>
          <a:p>
            <a:r>
              <a:rPr lang="en-US" dirty="0"/>
              <a:t>Refinement: Formulating the next step</a:t>
            </a:r>
          </a:p>
          <a:p>
            <a:r>
              <a:rPr lang="en-US" dirty="0"/>
              <a:t>Use: Compiling or disseminating insight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B504C9-A449-4DFC-821B-2841C70D73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85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Formulation: Expressing the search</a:t>
            </a:r>
          </a:p>
          <a:p>
            <a:r>
              <a:rPr lang="en-US" dirty="0"/>
              <a:t>Initiation of action: Launching the search</a:t>
            </a:r>
          </a:p>
          <a:p>
            <a:r>
              <a:rPr lang="en-US" dirty="0"/>
              <a:t>Review of results: Reading messages and outcome</a:t>
            </a:r>
          </a:p>
          <a:p>
            <a:r>
              <a:rPr lang="en-US" dirty="0"/>
              <a:t>Refinement: Formulating the next step</a:t>
            </a:r>
          </a:p>
          <a:p>
            <a:r>
              <a:rPr lang="en-US" dirty="0"/>
              <a:t>Use: Compiling or disseminating insight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B504C9-A449-4DFC-821B-2841C70D739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85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227F-4C66-4D65-B3F3-15EFF233293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10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24008"/>
            <a:ext cx="8534400" cy="1470025"/>
          </a:xfrm>
          <a:ln cap="rnd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5200"/>
            <a:ext cx="6400800" cy="2057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lvl2pPr>
              <a:defRPr sz="24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2pPr>
            <a:lvl3pPr>
              <a:defRPr sz="20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3pPr>
            <a:lvl4pPr>
              <a:defRPr sz="18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4pPr>
            <a:lvl5pPr>
              <a:defRPr sz="18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03773"/>
            <a:ext cx="9144000" cy="35423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algn="just"/>
            <a:r>
              <a:rPr lang="en-US" dirty="0"/>
              <a:t>HCI							                   Dr. Shuang LIANG, </a:t>
            </a:r>
            <a:r>
              <a:rPr lang="en-US" dirty="0" err="1"/>
              <a:t>TongJi</a:t>
            </a:r>
            <a:endParaRPr 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F43D956-4964-4D2B-B71C-FA9748DF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03773"/>
            <a:ext cx="9144000" cy="35423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algn="just"/>
            <a:r>
              <a:rPr lang="en-US" dirty="0"/>
              <a:t>HCI							                   Dr. Shuang LIANG, </a:t>
            </a:r>
            <a:r>
              <a:rPr lang="en-US" dirty="0" err="1"/>
              <a:t>TongJi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6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6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3900" indent="-339725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900113" indent="-333375">
              <a:buClr>
                <a:schemeClr val="bg2">
                  <a:lumMod val="75000"/>
                </a:schemeClr>
              </a:buClr>
              <a:buSzPct val="90000"/>
              <a:buFont typeface="Wingdings" panose="05000000000000000000" pitchFamily="2" charset="2"/>
              <a:buChar char="Ø"/>
              <a:defRPr/>
            </a:lvl4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‹#›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2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03773"/>
            <a:ext cx="9144000" cy="35423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algn="just"/>
            <a:r>
              <a:rPr lang="en-US" dirty="0"/>
              <a:t>HCI							                   Dr. Shuang LIANG, </a:t>
            </a:r>
            <a:r>
              <a:rPr lang="en-US" dirty="0" err="1"/>
              <a:t>TongJi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lang="en-US" sz="2800" kern="1200" dirty="0" smtClean="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lang="en-US" sz="2400" kern="1200" dirty="0" smtClean="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lang="en-US" sz="2000" kern="1200" dirty="0" smtClean="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lang="en-US" sz="1800" kern="1200" dirty="0" smtClean="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lang="en-US" sz="1800" kern="1200" dirty="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upstash.com/docs/vector/overall/getstarted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cusklasson/GroceryStoreDatas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zhuanlan.zhihu.com/p/21699582502" TargetMode="External"/><Relationship Id="rId4" Type="http://schemas.openxmlformats.org/officeDocument/2006/relationships/hyperlink" Target="https://colab.research.google.com/drive/1y7ZBBxzEOAeSRDhyOeTxIJADxBC-0Fue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400" dirty="0"/>
              <a:t>Image Search</a:t>
            </a:r>
            <a:endParaRPr lang="en-US" dirty="0">
              <a:cs typeface="Lath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School of </a:t>
            </a:r>
            <a:r>
              <a:rPr lang="en-US" altLang="zh-CN" dirty="0"/>
              <a:t>Computer Science and Technology</a:t>
            </a:r>
            <a:endParaRPr lang="en-US" dirty="0"/>
          </a:p>
          <a:p>
            <a:r>
              <a:rPr lang="en-US" dirty="0" err="1"/>
              <a:t>TongJi</a:t>
            </a:r>
            <a:r>
              <a:rPr lang="en-US" dirty="0"/>
              <a:t> University</a:t>
            </a:r>
          </a:p>
        </p:txBody>
      </p:sp>
    </p:spTree>
    <p:extLst>
      <p:ext uri="{BB962C8B-B14F-4D97-AF65-F5344CB8AC3E}">
        <p14:creationId xmlns:p14="http://schemas.microsoft.com/office/powerpoint/2010/main" val="298429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Five-stage search framework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A five-stage search framework help to coordinate design practices and satisfy the needs of all users</a:t>
            </a:r>
          </a:p>
          <a:p>
            <a:pPr lvl="1"/>
            <a:r>
              <a:rPr lang="en-US" dirty="0"/>
              <a:t>Formulation</a:t>
            </a:r>
          </a:p>
          <a:p>
            <a:pPr lvl="1"/>
            <a:r>
              <a:rPr lang="en-US" dirty="0"/>
              <a:t>Initiation of action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/>
              <a:t>Review of results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/>
              <a:t>Refinement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/>
              <a:t>Use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Five-stages can be repeated until users’ needs are met</a:t>
            </a:r>
          </a:p>
          <a:p>
            <a:r>
              <a:rPr lang="en-US" dirty="0"/>
              <a:t>If users’ are unsatisfied with the results, they should be able to have additional options and change their queries easily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3CEA-F198-483E-B136-E6DE4D19DBBA}" type="datetime1">
              <a:rPr lang="en-US" smtClean="0"/>
              <a:t>2/28/26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Human-computer interaction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D59EA-74EB-4426-9363-A4C6AA2DED6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1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Formulation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simple and advance search</a:t>
            </a:r>
          </a:p>
          <a:p>
            <a:r>
              <a:rPr lang="en-US" dirty="0"/>
              <a:t>Limit the search using structured fields such as year, media, or location</a:t>
            </a:r>
          </a:p>
          <a:p>
            <a:r>
              <a:rPr lang="en-US" dirty="0"/>
              <a:t>Recognize phrases to allow entry of names, such as “George Washington”</a:t>
            </a:r>
          </a:p>
          <a:p>
            <a:r>
              <a:rPr lang="en-US" dirty="0"/>
              <a:t>Permit variants to allow relaxation of search constraints (e.g. phonetic variations)</a:t>
            </a:r>
          </a:p>
          <a:p>
            <a:r>
              <a:rPr lang="en-US" dirty="0"/>
              <a:t>Control the size of the initial result set</a:t>
            </a:r>
          </a:p>
          <a:p>
            <a:r>
              <a:rPr lang="en-US" dirty="0"/>
              <a:t>Use scoping of source carefully</a:t>
            </a:r>
          </a:p>
          <a:p>
            <a:r>
              <a:rPr lang="en-US" dirty="0"/>
              <a:t>Provide suggestions, hints, and common sources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3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15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Initiation of action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Explicit actions are initiated by buttons with consistent labels (such as “Search”)</a:t>
            </a:r>
          </a:p>
          <a:p>
            <a:r>
              <a:rPr lang="en-US" dirty="0"/>
              <a:t>Implicit actions are initiated by changes to a parameter and update results immediately</a:t>
            </a:r>
          </a:p>
          <a:p>
            <a:r>
              <a:rPr lang="en-US" dirty="0"/>
              <a:t>Guide users to successful or past queries with auto-complete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4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409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results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7829" y="856988"/>
            <a:ext cx="8020594" cy="56027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Keep search terms and constrains visible</a:t>
            </a:r>
          </a:p>
          <a:p>
            <a:r>
              <a:rPr lang="en-US" dirty="0"/>
              <a:t>Provide an overview of results (e.g. total number)</a:t>
            </a:r>
          </a:p>
          <a:p>
            <a:r>
              <a:rPr lang="en-US" dirty="0"/>
              <a:t>Categorize results using metadata (by attribute value, topics, etc.)</a:t>
            </a:r>
          </a:p>
          <a:p>
            <a:r>
              <a:rPr lang="en-US" dirty="0"/>
              <a:t>Provide descriptive previews of each result item</a:t>
            </a:r>
          </a:p>
          <a:p>
            <a:r>
              <a:rPr lang="en-US" dirty="0"/>
              <a:t>Highlight search terms in results</a:t>
            </a:r>
          </a:p>
          <a:p>
            <a:r>
              <a:rPr lang="en-US" dirty="0"/>
              <a:t>Allow examination of selected items</a:t>
            </a:r>
          </a:p>
          <a:p>
            <a:r>
              <a:rPr lang="en-US" dirty="0"/>
              <a:t>Provide visualizations when appropriate (e.g. maps or timelines)</a:t>
            </a:r>
          </a:p>
          <a:p>
            <a:r>
              <a:rPr lang="en-US" dirty="0"/>
              <a:t>Allow adjustment of the size of the result set and which fields are displayed</a:t>
            </a:r>
          </a:p>
          <a:p>
            <a:r>
              <a:rPr lang="en-US" dirty="0"/>
              <a:t>Allow change of sequencing (alphabetical, chronological, relevance ranked, etc.)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5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961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Refinement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Guide users in progressive refinement with meaningful messages</a:t>
            </a:r>
          </a:p>
          <a:p>
            <a:r>
              <a:rPr lang="en-US" dirty="0"/>
              <a:t>Make changing of search parameters convenient</a:t>
            </a:r>
          </a:p>
          <a:p>
            <a:r>
              <a:rPr lang="en-US" dirty="0"/>
              <a:t>Provide related searches</a:t>
            </a:r>
          </a:p>
          <a:p>
            <a:r>
              <a:rPr lang="en-US" dirty="0"/>
              <a:t>Provide suggestions for error correction (without forcing correction)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6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55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Imbed actions in results when possible</a:t>
            </a:r>
          </a:p>
          <a:p>
            <a:r>
              <a:rPr lang="en-US" dirty="0"/>
              <a:t>Allow queries, setting, and results to be saved, annotated, and sent to other applications</a:t>
            </a:r>
          </a:p>
          <a:p>
            <a:r>
              <a:rPr lang="en-US" dirty="0"/>
              <a:t>Explore collecting explicit feedback (ratings, reviews, like, etc.)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7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563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09459" y="1776899"/>
            <a:ext cx="8908997" cy="2324038"/>
            <a:chOff x="109459" y="1056472"/>
            <a:chExt cx="8908997" cy="2324038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459" y="1215030"/>
              <a:ext cx="8772319" cy="2165480"/>
            </a:xfrm>
            <a:prstGeom prst="rect">
              <a:avLst/>
            </a:prstGeom>
          </p:spPr>
        </p:pic>
        <p:sp>
          <p:nvSpPr>
            <p:cNvPr id="8" name="椭圆 7"/>
            <p:cNvSpPr/>
            <p:nvPr/>
          </p:nvSpPr>
          <p:spPr>
            <a:xfrm>
              <a:off x="398481" y="2687782"/>
              <a:ext cx="4732316" cy="6927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Input keywords</a:t>
              </a:r>
            </a:p>
          </p:txBody>
        </p:sp>
        <p:sp>
          <p:nvSpPr>
            <p:cNvPr id="9" name="椭圆 8"/>
            <p:cNvSpPr/>
            <p:nvPr/>
          </p:nvSpPr>
          <p:spPr>
            <a:xfrm>
              <a:off x="4286140" y="1056472"/>
              <a:ext cx="4732316" cy="6927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Choose scope</a:t>
              </a: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H="1">
              <a:off x="5874327" y="2798618"/>
              <a:ext cx="1066800" cy="2355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6947027" y="2613952"/>
              <a:ext cx="1940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Initiate the action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– Web 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Formulation and Initiation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999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– Web 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of results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01160" y="4949640"/>
            <a:ext cx="1854203" cy="365125"/>
          </a:xfrm>
        </p:spPr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633238" y="4949640"/>
            <a:ext cx="3617103" cy="365125"/>
          </a:xfrm>
        </p:spPr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93943" y="4949640"/>
            <a:ext cx="984019" cy="365125"/>
          </a:xfrm>
        </p:spPr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9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r="2598" b="2811"/>
          <a:stretch/>
        </p:blipFill>
        <p:spPr>
          <a:xfrm>
            <a:off x="1765078" y="1582258"/>
            <a:ext cx="6233745" cy="3646925"/>
          </a:xfrm>
          <a:prstGeom prst="rect">
            <a:avLst/>
          </a:prstGeom>
        </p:spPr>
      </p:pic>
      <p:sp>
        <p:nvSpPr>
          <p:cNvPr id="15" name="椭圆 14"/>
          <p:cNvSpPr/>
          <p:nvPr/>
        </p:nvSpPr>
        <p:spPr>
          <a:xfrm>
            <a:off x="1916597" y="2812469"/>
            <a:ext cx="1842654" cy="263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3759252" y="2964873"/>
            <a:ext cx="674666" cy="11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433918" y="2867889"/>
            <a:ext cx="138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Suggestions</a:t>
            </a:r>
          </a:p>
        </p:txBody>
      </p:sp>
      <p:sp>
        <p:nvSpPr>
          <p:cNvPr id="21" name="椭圆 20"/>
          <p:cNvSpPr/>
          <p:nvPr/>
        </p:nvSpPr>
        <p:spPr>
          <a:xfrm>
            <a:off x="1633238" y="1636082"/>
            <a:ext cx="795979" cy="3434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439146" y="1637687"/>
            <a:ext cx="13201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Search term</a:t>
            </a:r>
          </a:p>
        </p:txBody>
      </p:sp>
      <p:sp>
        <p:nvSpPr>
          <p:cNvPr id="25" name="椭圆 24"/>
          <p:cNvSpPr/>
          <p:nvPr/>
        </p:nvSpPr>
        <p:spPr>
          <a:xfrm>
            <a:off x="1916597" y="2481368"/>
            <a:ext cx="1842654" cy="263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3759252" y="2633772"/>
            <a:ext cx="478369" cy="131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221982" y="2455679"/>
            <a:ext cx="138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Overview</a:t>
            </a:r>
          </a:p>
        </p:txBody>
      </p:sp>
      <p:sp>
        <p:nvSpPr>
          <p:cNvPr id="29" name="矩形 28"/>
          <p:cNvSpPr/>
          <p:nvPr/>
        </p:nvSpPr>
        <p:spPr>
          <a:xfrm>
            <a:off x="3759251" y="4630821"/>
            <a:ext cx="2153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descriptive previews </a:t>
            </a:r>
          </a:p>
        </p:txBody>
      </p:sp>
      <p:sp>
        <p:nvSpPr>
          <p:cNvPr id="30" name="矩形 29"/>
          <p:cNvSpPr/>
          <p:nvPr/>
        </p:nvSpPr>
        <p:spPr>
          <a:xfrm>
            <a:off x="4649129" y="3741626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Highlight search terms </a:t>
            </a:r>
          </a:p>
        </p:txBody>
      </p:sp>
      <p:cxnSp>
        <p:nvCxnSpPr>
          <p:cNvPr id="31" name="直接箭头连接符 30"/>
          <p:cNvCxnSpPr/>
          <p:nvPr/>
        </p:nvCxnSpPr>
        <p:spPr>
          <a:xfrm flipH="1" flipV="1">
            <a:off x="2031227" y="3480844"/>
            <a:ext cx="2617903" cy="4454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H="1">
            <a:off x="2190034" y="3950194"/>
            <a:ext cx="2459095" cy="257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3099199" y="3545055"/>
            <a:ext cx="1549930" cy="3753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1673410" y="5000153"/>
            <a:ext cx="1458117" cy="2529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直接箭头连接符 34"/>
          <p:cNvCxnSpPr>
            <a:stCxn id="37" idx="0"/>
            <a:endCxn id="34" idx="4"/>
          </p:cNvCxnSpPr>
          <p:nvPr/>
        </p:nvCxnSpPr>
        <p:spPr>
          <a:xfrm flipV="1">
            <a:off x="2320276" y="5253084"/>
            <a:ext cx="82193" cy="1721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869642" y="5425222"/>
            <a:ext cx="90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079284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– Web 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Refinement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01160" y="4949640"/>
            <a:ext cx="1854203" cy="365125"/>
          </a:xfrm>
        </p:spPr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42838" y="4949640"/>
            <a:ext cx="3617103" cy="365125"/>
          </a:xfrm>
        </p:spPr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03543" y="4949640"/>
            <a:ext cx="984019" cy="365125"/>
          </a:xfrm>
        </p:spPr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10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r="2598" b="2811"/>
          <a:stretch/>
        </p:blipFill>
        <p:spPr>
          <a:xfrm>
            <a:off x="2374678" y="1582258"/>
            <a:ext cx="6233745" cy="364692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 rotWithShape="1">
          <a:blip r:embed="rId3"/>
          <a:srcRect t="71190" r="16760"/>
          <a:stretch/>
        </p:blipFill>
        <p:spPr>
          <a:xfrm>
            <a:off x="0" y="4017817"/>
            <a:ext cx="5248073" cy="367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9" name="圆角右箭头 48"/>
          <p:cNvSpPr/>
          <p:nvPr/>
        </p:nvSpPr>
        <p:spPr>
          <a:xfrm rot="10800000">
            <a:off x="5248072" y="2744603"/>
            <a:ext cx="2043061" cy="1535853"/>
          </a:xfrm>
          <a:prstGeom prst="bentArrow">
            <a:avLst>
              <a:gd name="adj1" fmla="val 8426"/>
              <a:gd name="adj2" fmla="val 10297"/>
              <a:gd name="adj3" fmla="val 14860"/>
              <a:gd name="adj4" fmla="val 36652"/>
            </a:avLst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-51568" y="3562903"/>
            <a:ext cx="2675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Change search parameters</a:t>
            </a:r>
          </a:p>
        </p:txBody>
      </p:sp>
    </p:spTree>
    <p:extLst>
      <p:ext uri="{BB962C8B-B14F-4D97-AF65-F5344CB8AC3E}">
        <p14:creationId xmlns:p14="http://schemas.microsoft.com/office/powerpoint/2010/main" val="1226129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– Image 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Formulation and Initiation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11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68" y="1234560"/>
            <a:ext cx="5942857" cy="22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1" y="3453608"/>
            <a:ext cx="7780952" cy="284761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853" y="164880"/>
            <a:ext cx="1504762" cy="3228571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398481" y="2327552"/>
            <a:ext cx="4732316" cy="6927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Input keywords</a:t>
            </a:r>
          </a:p>
        </p:txBody>
      </p:sp>
      <p:cxnSp>
        <p:nvCxnSpPr>
          <p:cNvPr id="12" name="直接箭头连接符 11"/>
          <p:cNvCxnSpPr>
            <a:stCxn id="13" idx="2"/>
          </p:cNvCxnSpPr>
          <p:nvPr/>
        </p:nvCxnSpPr>
        <p:spPr>
          <a:xfrm>
            <a:off x="5793748" y="2201247"/>
            <a:ext cx="319032" cy="3775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823422" y="1831915"/>
            <a:ext cx="1940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Initiate the action</a:t>
            </a:r>
          </a:p>
        </p:txBody>
      </p:sp>
      <p:cxnSp>
        <p:nvCxnSpPr>
          <p:cNvPr id="17" name="直接箭头连接符 16"/>
          <p:cNvCxnSpPr>
            <a:stCxn id="18" idx="0"/>
          </p:cNvCxnSpPr>
          <p:nvPr/>
        </p:nvCxnSpPr>
        <p:spPr>
          <a:xfrm flipH="1" flipV="1">
            <a:off x="5453304" y="2822770"/>
            <a:ext cx="340444" cy="6187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693321" y="3441546"/>
            <a:ext cx="2200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Search using pictures</a:t>
            </a:r>
          </a:p>
        </p:txBody>
      </p:sp>
      <p:cxnSp>
        <p:nvCxnSpPr>
          <p:cNvPr id="22" name="直接箭头连接符 21"/>
          <p:cNvCxnSpPr>
            <a:stCxn id="23" idx="0"/>
          </p:cNvCxnSpPr>
          <p:nvPr/>
        </p:nvCxnSpPr>
        <p:spPr>
          <a:xfrm flipH="1" flipV="1">
            <a:off x="7275289" y="632094"/>
            <a:ext cx="970326" cy="44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275289" y="1074094"/>
            <a:ext cx="1940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Auto-completion</a:t>
            </a:r>
          </a:p>
        </p:txBody>
      </p:sp>
      <p:cxnSp>
        <p:nvCxnSpPr>
          <p:cNvPr id="26" name="直接箭头连接符 25"/>
          <p:cNvCxnSpPr>
            <a:stCxn id="27" idx="2"/>
          </p:cNvCxnSpPr>
          <p:nvPr/>
        </p:nvCxnSpPr>
        <p:spPr>
          <a:xfrm>
            <a:off x="2626887" y="3919058"/>
            <a:ext cx="1998476" cy="194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934506" y="3549726"/>
            <a:ext cx="138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Suggestions</a:t>
            </a:r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1934507" y="3919058"/>
            <a:ext cx="692380" cy="194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2626887" y="3919058"/>
            <a:ext cx="4798457" cy="194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325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Image 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of results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12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r="1055"/>
          <a:stretch/>
        </p:blipFill>
        <p:spPr>
          <a:xfrm>
            <a:off x="26443" y="1475670"/>
            <a:ext cx="9093494" cy="4885714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1094510" y="1525244"/>
            <a:ext cx="1080654" cy="3434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85092" y="1526849"/>
            <a:ext cx="13201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Search term</a:t>
            </a:r>
          </a:p>
        </p:txBody>
      </p:sp>
      <p:cxnSp>
        <p:nvCxnSpPr>
          <p:cNvPr id="10" name="直接箭头连接符 9"/>
          <p:cNvCxnSpPr>
            <a:stCxn id="11" idx="2"/>
          </p:cNvCxnSpPr>
          <p:nvPr/>
        </p:nvCxnSpPr>
        <p:spPr>
          <a:xfrm>
            <a:off x="822961" y="2310098"/>
            <a:ext cx="811876" cy="2114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30580" y="1940766"/>
            <a:ext cx="138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Suggestions</a:t>
            </a:r>
          </a:p>
        </p:txBody>
      </p:sp>
    </p:spTree>
    <p:extLst>
      <p:ext uri="{BB962C8B-B14F-4D97-AF65-F5344CB8AC3E}">
        <p14:creationId xmlns:p14="http://schemas.microsoft.com/office/powerpoint/2010/main" val="1891849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Image 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Refinement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13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r="1055"/>
          <a:stretch/>
        </p:blipFill>
        <p:spPr>
          <a:xfrm>
            <a:off x="26443" y="1475670"/>
            <a:ext cx="9093494" cy="488571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704" y="831717"/>
            <a:ext cx="3190476" cy="47619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 flipV="1">
            <a:off x="6858001" y="1235804"/>
            <a:ext cx="27708" cy="2894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188576" y="476701"/>
            <a:ext cx="2675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Change search parameters</a:t>
            </a:r>
          </a:p>
        </p:txBody>
      </p:sp>
    </p:spTree>
    <p:extLst>
      <p:ext uri="{BB962C8B-B14F-4D97-AF65-F5344CB8AC3E}">
        <p14:creationId xmlns:p14="http://schemas.microsoft.com/office/powerpoint/2010/main" val="2306012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– Document 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Formulation and Initiation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14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83" y="1434174"/>
            <a:ext cx="8114286" cy="36571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89" y="3994519"/>
            <a:ext cx="7598103" cy="24649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矩形 9"/>
          <p:cNvSpPr/>
          <p:nvPr/>
        </p:nvSpPr>
        <p:spPr>
          <a:xfrm>
            <a:off x="2764639" y="3150064"/>
            <a:ext cx="148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Simple search</a:t>
            </a:r>
          </a:p>
        </p:txBody>
      </p:sp>
      <p:sp>
        <p:nvSpPr>
          <p:cNvPr id="11" name="矩形 10"/>
          <p:cNvSpPr/>
          <p:nvPr/>
        </p:nvSpPr>
        <p:spPr>
          <a:xfrm>
            <a:off x="1778034" y="5197108"/>
            <a:ext cx="1772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Advanced search</a:t>
            </a:r>
          </a:p>
        </p:txBody>
      </p:sp>
    </p:spTree>
    <p:extLst>
      <p:ext uri="{BB962C8B-B14F-4D97-AF65-F5344CB8AC3E}">
        <p14:creationId xmlns:p14="http://schemas.microsoft.com/office/powerpoint/2010/main" val="359936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Document 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of results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15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17290"/>
          <a:stretch/>
        </p:blipFill>
        <p:spPr>
          <a:xfrm>
            <a:off x="68428" y="1399308"/>
            <a:ext cx="9009524" cy="4710545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2677164" y="2184437"/>
            <a:ext cx="1842654" cy="263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直接箭头连接符 10"/>
          <p:cNvCxnSpPr>
            <a:stCxn id="12" idx="1"/>
          </p:cNvCxnSpPr>
          <p:nvPr/>
        </p:nvCxnSpPr>
        <p:spPr>
          <a:xfrm flipH="1">
            <a:off x="4519820" y="2263007"/>
            <a:ext cx="704571" cy="738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224391" y="2078341"/>
            <a:ext cx="138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Overview</a:t>
            </a:r>
          </a:p>
        </p:txBody>
      </p:sp>
      <p:sp>
        <p:nvSpPr>
          <p:cNvPr id="14" name="矩形 13"/>
          <p:cNvSpPr/>
          <p:nvPr/>
        </p:nvSpPr>
        <p:spPr>
          <a:xfrm>
            <a:off x="5212191" y="5140935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Highlight search terms 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3352800" y="5319668"/>
            <a:ext cx="1859391" cy="302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81397" y="2447673"/>
            <a:ext cx="2018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Categorize results using metadata </a:t>
            </a: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1045492" y="3094004"/>
            <a:ext cx="704570" cy="3370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986054" y="3294832"/>
            <a:ext cx="2303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Change of sequencing </a:t>
            </a: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4507043" y="3431075"/>
            <a:ext cx="605284" cy="430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542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Document 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Refinement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16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17290"/>
          <a:stretch/>
        </p:blipFill>
        <p:spPr>
          <a:xfrm>
            <a:off x="68428" y="1399308"/>
            <a:ext cx="9009524" cy="4710545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6504017" y="2538288"/>
            <a:ext cx="1842654" cy="263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直接箭头连接符 8"/>
          <p:cNvCxnSpPr>
            <a:stCxn id="10" idx="2"/>
            <a:endCxn id="8" idx="0"/>
          </p:cNvCxnSpPr>
          <p:nvPr/>
        </p:nvCxnSpPr>
        <p:spPr>
          <a:xfrm>
            <a:off x="7425344" y="2311601"/>
            <a:ext cx="0" cy="2266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242197" y="1942269"/>
            <a:ext cx="236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Progressive refinement</a:t>
            </a:r>
          </a:p>
        </p:txBody>
      </p:sp>
    </p:spTree>
    <p:extLst>
      <p:ext uri="{BB962C8B-B14F-4D97-AF65-F5344CB8AC3E}">
        <p14:creationId xmlns:p14="http://schemas.microsoft.com/office/powerpoint/2010/main" val="369644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Document 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3/13/2017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7B10541-829B-47A8-8883-60ADAD18ED3B}" type="slidenum">
              <a:rPr lang="en-US" altLang="zh-CN" smtClean="0"/>
              <a:pPr/>
              <a:t>17</a:t>
            </a:fld>
            <a:endParaRPr lang="en-US" altLang="zh-CN" sz="18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817" y="986941"/>
            <a:ext cx="4790476" cy="531428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65147" y="5056908"/>
            <a:ext cx="179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Possible actions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1598108" y="5356073"/>
            <a:ext cx="1079056" cy="1848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1885817" y="5532520"/>
            <a:ext cx="2977128" cy="4710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/>
          <p:cNvSpPr txBox="1"/>
          <p:nvPr/>
        </p:nvSpPr>
        <p:spPr>
          <a:xfrm>
            <a:off x="4033807" y="6129866"/>
            <a:ext cx="179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3065258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zh-CN" dirty="0"/>
              <a:t>CLIP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CF2E44-EFE7-F0AF-C012-9647E3A16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81470"/>
            <a:ext cx="8820472" cy="310878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DEDD940-20AE-9E68-4D5B-A0EF80E13031}"/>
              </a:ext>
            </a:extLst>
          </p:cNvPr>
          <p:cNvSpPr txBox="1"/>
          <p:nvPr/>
        </p:nvSpPr>
        <p:spPr>
          <a:xfrm>
            <a:off x="29885" y="5230731"/>
            <a:ext cx="8758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itchFamily="34" charset="0"/>
                <a:cs typeface="Calibri" pitchFamily="34" charset="0"/>
              </a:rPr>
              <a:t>CLIP (Contrastive Language-Image Pre-Training) is a neural network trained on a variety of (image, text) pairs.</a:t>
            </a:r>
          </a:p>
          <a:p>
            <a:pPr lvl="1"/>
            <a:endParaRPr lang="en-US" altLang="zh-CN" sz="24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686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B54A1-C204-2226-6872-CFBC0C6F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EE6FE5-3526-6A90-9EFE-2A322FF6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zh-CN" dirty="0" err="1"/>
              <a:t>Upstash</a:t>
            </a:r>
            <a:r>
              <a:rPr lang="en-US" altLang="zh-CN" dirty="0"/>
              <a:t> Vector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5A5716-857C-0070-7373-01882C8C3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AE8503-F5A8-BE39-2D37-7BA9628F233F}"/>
              </a:ext>
            </a:extLst>
          </p:cNvPr>
          <p:cNvSpPr txBox="1"/>
          <p:nvPr/>
        </p:nvSpPr>
        <p:spPr>
          <a:xfrm>
            <a:off x="8181" y="3933056"/>
            <a:ext cx="87581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Calibri" pitchFamily="34" charset="0"/>
                <a:cs typeface="Calibri" pitchFamily="34" charset="0"/>
              </a:rPr>
              <a:t>Upstash</a:t>
            </a:r>
            <a:r>
              <a:rPr lang="en-US" altLang="zh-CN" sz="2400" dirty="0">
                <a:latin typeface="Calibri" pitchFamily="34" charset="0"/>
                <a:cs typeface="Calibri" pitchFamily="34" charset="0"/>
              </a:rPr>
              <a:t> Vector is a serverless vector database designed for high-performance vector search at scale.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itchFamily="34" charset="0"/>
                <a:cs typeface="Calibri" pitchFamily="34" charset="0"/>
                <a:hlinkClick r:id="rId2"/>
              </a:rPr>
              <a:t>https://upstash.com/docs/vector/overall/getstarted/</a:t>
            </a:r>
            <a:endParaRPr lang="en-US" altLang="zh-CN" sz="2400" dirty="0">
              <a:latin typeface="Calibri" pitchFamily="34" charset="0"/>
              <a:cs typeface="Calibri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272D5D7-B73E-DC3B-6D99-A4F0B4E62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370457"/>
            <a:ext cx="6192688" cy="233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68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zh-CN" dirty="0" err="1"/>
              <a:t>gradio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pic>
        <p:nvPicPr>
          <p:cNvPr id="1026" name="Picture 2" descr="如何使用Gradio为机器学习模型建立GUI如果你曾经建立过一个机器学习模型，你可能会想 &quot;嗯，这很酷，但其他人怎么能看 - 掘金">
            <a:extLst>
              <a:ext uri="{FF2B5EF4-FFF2-40B4-BE49-F238E27FC236}">
                <a16:creationId xmlns:a16="http://schemas.microsoft.com/office/drawing/2014/main" id="{A900CE5A-B0FE-97B1-9E18-28718921A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28800"/>
            <a:ext cx="3924436" cy="147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0ECB4FB-11DC-BDB0-48B5-8C7CE5D1DEDD}"/>
              </a:ext>
            </a:extLst>
          </p:cNvPr>
          <p:cNvSpPr txBox="1"/>
          <p:nvPr/>
        </p:nvSpPr>
        <p:spPr>
          <a:xfrm>
            <a:off x="0" y="4147967"/>
            <a:ext cx="87581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itchFamily="34" charset="0"/>
                <a:cs typeface="Calibri" pitchFamily="34" charset="0"/>
              </a:rPr>
              <a:t>A Python library for quickly creating and sharing user interfaces for machine learning models. It simplifies the process of building a user interface (UI).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itchFamily="34" charset="0"/>
                <a:cs typeface="Calibri" pitchFamily="34" charset="0"/>
              </a:rPr>
              <a:t>Supports multiple types of input and output components, such as text boxes, image uploaders, sliders, and more.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0902C5-8F9D-4321-F65E-81D69DDF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1426897"/>
            <a:ext cx="4517401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24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dirty="0"/>
              <a:t>Five-stage search framework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A five-stage search framework help to coordinate design practices and satisfy the needs of all users</a:t>
            </a:r>
          </a:p>
          <a:p>
            <a:pPr lvl="1"/>
            <a:r>
              <a:rPr lang="en-US" dirty="0"/>
              <a:t>Formulation</a:t>
            </a:r>
          </a:p>
          <a:p>
            <a:pPr lvl="1"/>
            <a:r>
              <a:rPr lang="en-US" dirty="0"/>
              <a:t>Initiation of action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/>
              <a:t>Review of results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/>
              <a:t>Refinement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/>
              <a:t>Use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Five-stages can be repeated until users’ needs are met</a:t>
            </a:r>
          </a:p>
          <a:p>
            <a:r>
              <a:rPr lang="en-US" dirty="0"/>
              <a:t>If users’ are unsatisfied with the results, they should be able to have additional options and change their queries easily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267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446C-89D4-2ABC-6974-105D3C666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718D0-074A-B6BC-65A6-5560EFAEF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zh-CN" dirty="0"/>
              <a:t>Assignment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3D9E0F-29F1-2B50-39F3-C6A9AE1B9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917FD95-21C4-2EC8-2E36-7BEB9F669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052736"/>
            <a:ext cx="9433048" cy="5472608"/>
          </a:xfrm>
        </p:spPr>
        <p:txBody>
          <a:bodyPr>
            <a:normAutofit fontScale="77500" lnSpcReduction="20000"/>
          </a:bodyPr>
          <a:lstStyle/>
          <a:p>
            <a:pPr marL="0" lvl="0" indent="0">
              <a:lnSpc>
                <a:spcPct val="170000"/>
              </a:lnSpc>
              <a:buClr>
                <a:srgbClr val="E48312"/>
              </a:buClr>
              <a:buNone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构建一个图像搜索的可视化页面</a:t>
            </a:r>
            <a:endParaRPr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70000"/>
              </a:lnSpc>
              <a:buClr>
                <a:srgbClr val="E48312"/>
              </a:buClr>
              <a:buFont typeface="Wingdings" panose="05000000000000000000" pitchFamily="2" charset="2"/>
              <a:buChar char="l"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推荐使用</a:t>
            </a:r>
            <a:r>
              <a:rPr lang="en-US" altLang="zh-CN" sz="21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Gradio</a:t>
            </a:r>
            <a: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21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Upstash</a:t>
            </a:r>
            <a: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Vector + CLIP</a:t>
            </a:r>
          </a:p>
          <a:p>
            <a:pPr lvl="0">
              <a:lnSpc>
                <a:spcPct val="170000"/>
              </a:lnSpc>
              <a:buClr>
                <a:srgbClr val="E48312"/>
              </a:buClr>
              <a:buFont typeface="Wingdings" panose="05000000000000000000" pitchFamily="2" charset="2"/>
              <a:buChar char="l"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可使用的数据集不限，请在报告部分简要介绍你所使用的数据集</a:t>
            </a:r>
            <a:endParaRPr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70000"/>
              </a:lnSpc>
              <a:buClr>
                <a:srgbClr val="E48312"/>
              </a:buClr>
              <a:buNone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（一个可能的选择：</a:t>
            </a:r>
            <a: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https://github.com/marcusklasson/GroceryStoreDataset</a:t>
            </a: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70000"/>
              </a:lnSpc>
              <a:buClr>
                <a:srgbClr val="E48312"/>
              </a:buClr>
              <a:buFont typeface="Wingdings" panose="05000000000000000000" pitchFamily="2" charset="2"/>
              <a:buChar char="l"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构建的用户可视化页面时，需要满足以下内容（总分</a:t>
            </a:r>
            <a: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</a:p>
          <a:p>
            <a:pPr lvl="0">
              <a:lnSpc>
                <a:spcPct val="170000"/>
              </a:lnSpc>
              <a:buClr>
                <a:srgbClr val="E48312"/>
              </a:buClr>
              <a:buFont typeface="Wingdings" panose="05000000000000000000" pitchFamily="2" charset="2"/>
              <a:buChar char="Ø"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图像搜索功能</a:t>
            </a:r>
            <a:endParaRPr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70000"/>
              </a:lnSpc>
              <a:buClr>
                <a:srgbClr val="E48312"/>
              </a:buClr>
              <a:buNone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以文字搜索图像：用户能够使用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</a:t>
            </a: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进行图像搜索，并得到按相似度排序的结果（</a:t>
            </a:r>
            <a: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Clr>
                <a:srgbClr val="E48312"/>
              </a:buClr>
              <a:buNone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以图像搜索图像：用户能够使用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进行图像搜索，并得到按相似度排序的结果（</a:t>
            </a:r>
            <a: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buClr>
                <a:srgbClr val="E48312"/>
              </a:buClr>
              <a:buFont typeface="Wingdings" panose="05000000000000000000" pitchFamily="2" charset="2"/>
              <a:buChar char="Ø"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用户可以使用（如下载或者收藏）检索到的图片（</a:t>
            </a:r>
            <a: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Clr>
                <a:srgbClr val="E48312"/>
              </a:buClr>
              <a:buNone/>
            </a:pP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参考：</a:t>
            </a:r>
            <a:b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https://colab.research.google.com/drive/1y7ZBBxzEOAeSRDhyOeTxIJADxBC-0Fue</a:t>
            </a:r>
            <a:endParaRPr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Clr>
                <a:srgbClr val="E48312"/>
              </a:buClr>
              <a:buNone/>
            </a:pPr>
            <a: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https://zhuanlan.zhihu.com/p/21699582502</a:t>
            </a:r>
            <a:r>
              <a:rPr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http://imagesearch.idatacoding.cn/</a:t>
            </a:r>
          </a:p>
        </p:txBody>
      </p:sp>
    </p:spTree>
    <p:extLst>
      <p:ext uri="{BB962C8B-B14F-4D97-AF65-F5344CB8AC3E}">
        <p14:creationId xmlns:p14="http://schemas.microsoft.com/office/powerpoint/2010/main" val="2874505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4F18DA-6781-47E4-AF97-7505F32D1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The searching interface has the following features:</a:t>
            </a:r>
          </a:p>
          <a:p>
            <a:pPr lvl="1"/>
            <a:r>
              <a:rPr lang="en-US" altLang="zh-CN" dirty="0"/>
              <a:t>It contains an input box to upload an image/description text (</a:t>
            </a:r>
            <a:r>
              <a:rPr lang="en-US" altLang="zh-CN" dirty="0">
                <a:solidFill>
                  <a:srgbClr val="FF0000"/>
                </a:solidFill>
              </a:rPr>
              <a:t>Formulation</a:t>
            </a:r>
            <a:r>
              <a:rPr lang="en-US" altLang="zh-CN" dirty="0"/>
              <a:t>); 1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en-US" altLang="zh-CN" dirty="0"/>
              <a:t>Users can preview the query in the searching window (</a:t>
            </a:r>
            <a:r>
              <a:rPr lang="en-US" altLang="zh-CN" dirty="0">
                <a:solidFill>
                  <a:srgbClr val="FF0000"/>
                </a:solidFill>
              </a:rPr>
              <a:t>Formulation</a:t>
            </a:r>
            <a:r>
              <a:rPr lang="en-US" altLang="zh-CN" dirty="0"/>
              <a:t>);1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en-US" altLang="zh-CN" dirty="0"/>
              <a:t>It has a search button (</a:t>
            </a:r>
            <a:r>
              <a:rPr lang="en-US" altLang="zh-CN" dirty="0">
                <a:solidFill>
                  <a:srgbClr val="FF0000"/>
                </a:solidFill>
              </a:rPr>
              <a:t>Initiation</a:t>
            </a:r>
            <a:r>
              <a:rPr lang="en-US" altLang="zh-CN" dirty="0"/>
              <a:t>); 1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en-US" altLang="zh-CN" dirty="0"/>
              <a:t>Provide an overview of the results (e.g. the total number of results) (</a:t>
            </a:r>
            <a:r>
              <a:rPr lang="en-US" altLang="zh-CN" dirty="0">
                <a:solidFill>
                  <a:srgbClr val="FF0000"/>
                </a:solidFill>
              </a:rPr>
              <a:t>Review</a:t>
            </a:r>
            <a:r>
              <a:rPr lang="en-US" altLang="zh-CN" dirty="0"/>
              <a:t>); 1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en-US" altLang="zh-CN" dirty="0"/>
              <a:t>Allow changing search parameters (e.g. change the number of returned images) when reviewing results (</a:t>
            </a:r>
            <a:r>
              <a:rPr lang="en-US" altLang="zh-CN" dirty="0">
                <a:solidFill>
                  <a:srgbClr val="FF0000"/>
                </a:solidFill>
              </a:rPr>
              <a:t>Refinement</a:t>
            </a:r>
            <a:r>
              <a:rPr lang="en-US" altLang="zh-CN" dirty="0"/>
              <a:t>); 1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en-US" altLang="zh-CN" dirty="0"/>
              <a:t>Users can take some actions, e.g. add selected images to a favorite list or download (</a:t>
            </a:r>
            <a:r>
              <a:rPr lang="en-US" altLang="zh-CN" dirty="0">
                <a:solidFill>
                  <a:srgbClr val="FF0000"/>
                </a:solidFill>
              </a:rPr>
              <a:t>Use</a:t>
            </a:r>
            <a:r>
              <a:rPr lang="en-US" altLang="zh-CN" dirty="0"/>
              <a:t>); 1</a:t>
            </a:r>
            <a:r>
              <a:rPr lang="zh-CN" altLang="en-US" dirty="0"/>
              <a:t>分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72162E-56FC-48EB-95AC-41DBCFC46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E2C1DEF-34CB-4EC1-874C-F4172EDD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0545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zh-CN" dirty="0"/>
              <a:t>Report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54F0D2B-ADCE-4A56-9CE3-2A38BDA33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95" y="1196752"/>
            <a:ext cx="8618809" cy="50922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report should answer the following questions (in English)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，总分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542925" lvl="1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简要介绍所使用的数据集来源，数据集的规模和内容。</a:t>
            </a:r>
            <a:r>
              <a:rPr lang="en-US" altLang="zh-CN" sz="1800" dirty="0"/>
              <a:t> 1</a:t>
            </a:r>
            <a:r>
              <a:rPr lang="zh-CN" altLang="en-US" sz="1800" dirty="0"/>
              <a:t>分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2925" lvl="1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你设计的图像搜索界面是如何反映出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Five-Stage Search Framework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的？</a:t>
            </a:r>
            <a:r>
              <a:rPr lang="en-US" altLang="zh-CN" sz="1800" dirty="0"/>
              <a:t> 1</a:t>
            </a:r>
            <a:r>
              <a:rPr lang="zh-CN" altLang="en-US" sz="1800" dirty="0"/>
              <a:t>分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2925" lvl="1" indent="-342900">
              <a:lnSpc>
                <a:spcPct val="150000"/>
              </a:lnSpc>
              <a:buFont typeface="Arial" pitchFamily="34" charset="0"/>
              <a:buAutoNum type="arabicPeriod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在设计图像搜索界面时，不同输入方式（文字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图片）对用户操作流程有何影响？如何使这两种方式对用户同样友好？</a:t>
            </a:r>
            <a:r>
              <a:rPr lang="en-US" altLang="zh-CN" sz="1800" dirty="0"/>
              <a:t> 1</a:t>
            </a:r>
            <a:r>
              <a:rPr lang="zh-CN" altLang="en-US" sz="1800" dirty="0"/>
              <a:t>分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2925" lvl="1" indent="-342900">
              <a:lnSpc>
                <a:spcPct val="150000"/>
              </a:lnSpc>
              <a:buFont typeface="Arial" pitchFamily="34" charset="0"/>
              <a:buAutoNum type="arabicPeriod"/>
            </a:pP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2925" lvl="1" indent="-342900">
              <a:lnSpc>
                <a:spcPct val="150000"/>
              </a:lnSpc>
              <a:buFont typeface="Arial" pitchFamily="34" charset="0"/>
              <a:buAutoNum type="arabicPeriod"/>
            </a:pPr>
            <a:endParaRPr lang="en-US" sz="6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报告至多不超过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页（不含封面等，只算正文部分），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written in English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/>
              <a:t> 1</a:t>
            </a:r>
            <a:r>
              <a:rPr lang="zh-CN" altLang="en-US" sz="1800" dirty="0"/>
              <a:t>分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Submit your work (code and report)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Prepare a readme file to illustrate how to run your program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Compress all the codes and the report into a zip file: ID_name_lab3.zip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Submitted to </a:t>
            </a:r>
            <a:r>
              <a:rPr 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canvas.tongji.edu.cn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3614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05ED-AF1A-E242-EA9E-91CDAAF6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56C48-B795-4859-0143-151FE4E5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zh-CN" dirty="0"/>
              <a:t>Report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4B9596-327B-550B-E7E9-F7DF5F2DF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8B50E88-9DAF-7ED8-3776-5A7133CEF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95" y="1196752"/>
            <a:ext cx="8618809" cy="5092291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Deadline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，晚交一天扣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/>
              <a:t>分</a:t>
            </a:r>
            <a:endParaRPr lang="en-US" altLang="zh-CN" sz="1800" dirty="0"/>
          </a:p>
          <a:p>
            <a:pPr lvl="1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23:59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DEF60E-5B22-B7E6-1BBE-6B848E16B380}"/>
              </a:ext>
            </a:extLst>
          </p:cNvPr>
          <p:cNvSpPr txBox="1"/>
          <p:nvPr/>
        </p:nvSpPr>
        <p:spPr>
          <a:xfrm>
            <a:off x="3275856" y="3748214"/>
            <a:ext cx="4580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人一组，完成上述任务</a:t>
            </a:r>
          </a:p>
        </p:txBody>
      </p:sp>
    </p:spTree>
    <p:extLst>
      <p:ext uri="{BB962C8B-B14F-4D97-AF65-F5344CB8AC3E}">
        <p14:creationId xmlns:p14="http://schemas.microsoft.com/office/powerpoint/2010/main" val="1690398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ook">
      <a:dk1>
        <a:sysClr val="windowText" lastClr="000000"/>
      </a:dk1>
      <a:lt1>
        <a:sysClr val="window" lastClr="FFFFFF"/>
      </a:lt1>
      <a:dk2>
        <a:srgbClr val="000082"/>
      </a:dk2>
      <a:lt2>
        <a:srgbClr val="F3F3FF"/>
      </a:lt2>
      <a:accent1>
        <a:srgbClr val="828200"/>
      </a:accent1>
      <a:accent2>
        <a:srgbClr val="1B582B"/>
      </a:accent2>
      <a:accent3>
        <a:srgbClr val="009FEC"/>
      </a:accent3>
      <a:accent4>
        <a:srgbClr val="00BDBD"/>
      </a:accent4>
      <a:accent5>
        <a:srgbClr val="7C5BAE"/>
      </a:accent5>
      <a:accent6>
        <a:srgbClr val="0055AA"/>
      </a:accent6>
      <a:hlink>
        <a:srgbClr val="FC9658"/>
      </a:hlink>
      <a:folHlink>
        <a:srgbClr val="E800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7900</TotalTime>
  <Words>1362</Words>
  <Application>Microsoft Macintosh PowerPoint</Application>
  <PresentationFormat>全屏显示(4:3)</PresentationFormat>
  <Paragraphs>215</Paragraphs>
  <Slides>25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微软雅黑</vt:lpstr>
      <vt:lpstr>Arial</vt:lpstr>
      <vt:lpstr>Calibri</vt:lpstr>
      <vt:lpstr>Latha</vt:lpstr>
      <vt:lpstr>Times New Roman</vt:lpstr>
      <vt:lpstr>Wingdings</vt:lpstr>
      <vt:lpstr>Office Theme</vt:lpstr>
      <vt:lpstr>Image Search</vt:lpstr>
      <vt:lpstr>Five-stage search framework</vt:lpstr>
      <vt:lpstr>Formulation</vt:lpstr>
      <vt:lpstr>Initiation of action</vt:lpstr>
      <vt:lpstr>Review of results</vt:lpstr>
      <vt:lpstr>Refinement</vt:lpstr>
      <vt:lpstr>Use</vt:lpstr>
      <vt:lpstr>Examples – Web search</vt:lpstr>
      <vt:lpstr>Examples – Web search</vt:lpstr>
      <vt:lpstr>Examples – Web search</vt:lpstr>
      <vt:lpstr>Examples – Image search</vt:lpstr>
      <vt:lpstr>Examples – Image search</vt:lpstr>
      <vt:lpstr>Examples – Image search</vt:lpstr>
      <vt:lpstr>Examples – Document search</vt:lpstr>
      <vt:lpstr>Examples – Document search</vt:lpstr>
      <vt:lpstr>Examples – Document search</vt:lpstr>
      <vt:lpstr>Examples – Document search</vt:lpstr>
      <vt:lpstr>CLIP</vt:lpstr>
      <vt:lpstr>Upstash Vector</vt:lpstr>
      <vt:lpstr>gradio framework</vt:lpstr>
      <vt:lpstr>Five-stage search framework</vt:lpstr>
      <vt:lpstr>Assignment</vt:lpstr>
      <vt:lpstr>Assignment</vt:lpstr>
      <vt:lpstr>Report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Yichen Wei</dc:creator>
  <cp:lastModifiedBy>Tim Deng</cp:lastModifiedBy>
  <cp:revision>346</cp:revision>
  <cp:lastPrinted>2013-09-10T08:29:36Z</cp:lastPrinted>
  <dcterms:created xsi:type="dcterms:W3CDTF">2006-08-16T00:00:00Z</dcterms:created>
  <dcterms:modified xsi:type="dcterms:W3CDTF">2026-02-28T07:44:31Z</dcterms:modified>
</cp:coreProperties>
</file>